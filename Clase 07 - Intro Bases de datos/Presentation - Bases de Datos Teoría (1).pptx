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Geo"/>
      <p:regular r:id="rId34"/>
      <p:italic r:id="rId35"/>
    </p:embeddedFont>
    <p:embeddedFont>
      <p:font typeface="Helvetica Neue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jQ/OOOxr8Oq3TnVWgTmmCLYBr+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Geo-italic.fntdata"/><Relationship Id="rId12" Type="http://schemas.openxmlformats.org/officeDocument/2006/relationships/slide" Target="slides/slide7.xml"/><Relationship Id="rId34" Type="http://schemas.openxmlformats.org/officeDocument/2006/relationships/font" Target="fonts/Geo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12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2700"/>
            <a:ext cx="11201400" cy="10299700"/>
          </a:xfrm>
          <a:custGeom>
            <a:rect b="b" l="l" r="r" t="t"/>
            <a:pathLst>
              <a:path extrusionOk="0" h="885799" w="963348">
                <a:moveTo>
                  <a:pt x="0" y="0"/>
                </a:moveTo>
                <a:lnTo>
                  <a:pt x="963348" y="0"/>
                </a:lnTo>
                <a:lnTo>
                  <a:pt x="963348" y="885799"/>
                </a:lnTo>
                <a:lnTo>
                  <a:pt x="0" y="885799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1868150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9" l="0" r="0" t="-1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666750" y="9001760"/>
            <a:ext cx="688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Presentado por: </a:t>
            </a:r>
            <a:r>
              <a:rPr lang="en-US" sz="3800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Cristian Sainea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75380" y="975068"/>
            <a:ext cx="9754495" cy="389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6" u="none" cap="none" strike="noStrike">
                <a:solidFill>
                  <a:srgbClr val="7BC4FF"/>
                </a:solidFill>
                <a:latin typeface="Geo"/>
                <a:ea typeface="Geo"/>
                <a:cs typeface="Geo"/>
                <a:sym typeface="Geo"/>
              </a:rPr>
              <a:t>Bases de Datos Teoría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 rot="-3117037">
            <a:off x="8947742" y="765609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98" name="Google Shape;98;p2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3D9CDC"/>
                  </a:solidFill>
                  <a:latin typeface="Geo"/>
                  <a:ea typeface="Geo"/>
                  <a:cs typeface="Geo"/>
                  <a:sym typeface="Geo"/>
                </a:rPr>
                <a:t>Objetivos de aprendizaje</a:t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3D9C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Comprender los conceptos fundamentales</a:t>
              </a:r>
              <a:endParaRPr/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1800225" y="5143500"/>
            <a:ext cx="4308497" cy="2959100"/>
            <a:chOff x="0" y="0"/>
            <a:chExt cx="5744662" cy="3945467"/>
          </a:xfrm>
        </p:grpSpPr>
        <p:sp>
          <p:nvSpPr>
            <p:cNvPr id="101" name="Google Shape;101;p2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D9C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Comprender</a:t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1060450"/>
              <a:ext cx="5744662" cy="288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Una base de datos es un </a:t>
              </a:r>
              <a:r>
                <a:rPr b="1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sistema organizado</a:t>
              </a:r>
              <a:r>
                <a:rPr b="0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que permite almacenar y gestionar información de manera eficiente, facilitando el acceso y la manipulación de datos según sea necesario.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7291388" y="5143500"/>
            <a:ext cx="4010025" cy="2930525"/>
            <a:chOff x="0" y="0"/>
            <a:chExt cx="5346700" cy="3907367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D9C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Identificar</a:t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1060450"/>
              <a:ext cx="5346700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 crucial </a:t>
              </a:r>
              <a:r>
                <a:rPr b="1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distinguir entre</a:t>
              </a:r>
              <a:r>
                <a:rPr b="0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diferentes tipos y modelos de bases de datos, ya que cada uno está diseñado para satisfacer necesidades específicas y optimizar el manejo de información.</a:t>
              </a:r>
              <a:endParaRPr/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2172950" y="5143500"/>
            <a:ext cx="4010025" cy="2959100"/>
            <a:chOff x="0" y="0"/>
            <a:chExt cx="5346700" cy="3945467"/>
          </a:xfrm>
        </p:grpSpPr>
        <p:sp>
          <p:nvSpPr>
            <p:cNvPr id="107" name="Google Shape;107;p2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3D9CD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Reconocer</a:t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1060450"/>
              <a:ext cx="5346700" cy="288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Reconocer el papel de los </a:t>
              </a:r>
              <a:r>
                <a:rPr b="1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sistemas de gestión</a:t>
              </a:r>
              <a:r>
                <a:rPr b="0" i="0" lang="en-US" sz="2000" u="none" cap="none" strike="noStrike">
                  <a:solidFill>
                    <a:srgbClr val="7A7A7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de bases de datos (DBMS) es fundamental para entender cómo se gestionan los datos, asegurando su integridad y seguridad.</a:t>
              </a:r>
              <a:endParaRPr/>
            </a:p>
          </p:txBody>
        </p:sp>
      </p:grpSp>
      <p:sp>
        <p:nvSpPr>
          <p:cNvPr id="109" name="Google Shape;109;p2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3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16" name="Google Shape;116;p3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6182" r="-26182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¿Qué es una base de datos?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base de datos es un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 organizado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datos relacionados que permite almacenar, gestionar y recuperar información de manera eficiente, facilitando el acceso y análisis de datos importantes para diversas aplicaciones.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4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25" name="Google Shape;125;p4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26" name="Google Shape;126;p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4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Importancia de las bases de datos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bases de datos son cruciales porque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facilitan el acceso rápido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información, permitiendo a los usuarios gestionar grandes volúmenes de datos de manera eficiente en diversos sistemas y aplicaciones modernas.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5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35" name="Google Shape;135;p5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36" name="Google Shape;136;p5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5"/>
          <p:cNvSpPr/>
          <p:nvPr/>
        </p:nvSpPr>
        <p:spPr>
          <a:xfrm rot="-24000">
            <a:off x="8955804" y="-32324"/>
            <a:ext cx="9367992" cy="10351655"/>
          </a:xfrm>
          <a:custGeom>
            <a:rect b="b" l="l" r="r" t="t"/>
            <a:pathLst>
              <a:path extrusionOk="0" h="1359457" w="1230275">
                <a:moveTo>
                  <a:pt x="9432" y="0"/>
                </a:moveTo>
                <a:lnTo>
                  <a:pt x="1230275" y="8523"/>
                </a:lnTo>
                <a:lnTo>
                  <a:pt x="1220844" y="1359457"/>
                </a:lnTo>
                <a:lnTo>
                  <a:pt x="0" y="135093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" l="-378" r="-377" t="-12"/>
            </a:stretch>
          </a:blipFill>
          <a:ln>
            <a:noFill/>
          </a:ln>
        </p:spPr>
      </p:sp>
      <p:sp>
        <p:nvSpPr>
          <p:cNvPr id="138" name="Google Shape;138;p5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Componentes de una base de datos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666750" y="7807325"/>
            <a:ext cx="6886575" cy="181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base de datos se compone de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organizados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un software de gestión, hardware que aloja la información y usuarios que interactúan con el sistema para acceder y manipular los datos.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7907547" y="2395387"/>
            <a:ext cx="9771069" cy="5496226"/>
          </a:xfrm>
          <a:custGeom>
            <a:rect b="b" l="l" r="r" t="t"/>
            <a:pathLst>
              <a:path extrusionOk="0" h="5496226" w="9771069">
                <a:moveTo>
                  <a:pt x="0" y="0"/>
                </a:moveTo>
                <a:lnTo>
                  <a:pt x="9771069" y="0"/>
                </a:lnTo>
                <a:lnTo>
                  <a:pt x="9771069" y="5496226"/>
                </a:lnTo>
                <a:lnTo>
                  <a:pt x="0" y="5496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6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Tipos de bases de datos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666750" y="6976745"/>
            <a:ext cx="6886575" cy="264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bases de datos se clasifican según su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y uso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Las dos categorías más relevantes son Relacionales y NoSQL. Cada tipo responde a diferentes necesidades y permite gestionar datos de maneras específicas y eficientes.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7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52" name="Google Shape;152;p7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53" name="Google Shape;153;p7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7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113" r="-22113" t="0"/>
            </a:stretch>
          </a:blipFill>
          <a:ln>
            <a:noFill/>
          </a:ln>
        </p:spPr>
      </p:sp>
      <p:sp>
        <p:nvSpPr>
          <p:cNvPr id="155" name="Google Shape;155;p7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Bases de datos relacionales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bases de datos relacionales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organizan información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 tablas compuestas por filas y columnas, permitiendo una gestión eficiente de datos. Utilizan claves para mantener relaciones y asegurar la integridad de la información.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8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62" name="Google Shape;162;p8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63" name="Google Shape;163;p8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8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Tipos de bases de datos NoSQL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bases de datos NoSQL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ofrecen flexibilidad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 no requerir estructuras tabulares. Son ideales para manejar datos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estructurados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se utilizan comúnmente en aplicaciones modernas, como redes sociales y plataformas de contenido.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021763" y="1579563"/>
            <a:ext cx="8510584" cy="6546603"/>
          </a:xfrm>
          <a:custGeom>
            <a:rect b="b" l="l" r="r" t="t"/>
            <a:pathLst>
              <a:path extrusionOk="0" h="6546603" w="8510584">
                <a:moveTo>
                  <a:pt x="0" y="0"/>
                </a:moveTo>
                <a:lnTo>
                  <a:pt x="8510583" y="0"/>
                </a:lnTo>
                <a:lnTo>
                  <a:pt x="8510583" y="6546602"/>
                </a:lnTo>
                <a:lnTo>
                  <a:pt x="0" y="65466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9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72" name="Google Shape;172;p9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73" name="Google Shape;173;p9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9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3725" r="-13725" t="0"/>
            </a:stretch>
          </a:blipFill>
          <a:ln>
            <a:noFill/>
          </a:ln>
        </p:spPr>
      </p:sp>
      <p:sp>
        <p:nvSpPr>
          <p:cNvPr id="175" name="Google Shape;175;p9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¿Qué es un DBMS?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de Gestión de Bases de Datos (DBMS)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permite crear, modificar y gestionar bases de datos, facilitando el almacenamiento eficiente de datos y su acceso por diferentes usuarios y aplicaciones.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0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82" name="Google Shape;182;p10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83" name="Google Shape;183;p10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0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185" name="Google Shape;185;p10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Funciones clave de un DBMS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666750" y="7445375"/>
            <a:ext cx="6886575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DBMS gestiona datos mediante la organización, almacenamiento y recuperación eficiente. También asegura la seguridad, control de acceso y mantiene la integridad de la información en sistemas de bases de datos.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1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192" name="Google Shape;192;p11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193" name="Google Shape;193;p11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1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195" name="Google Shape;195;p11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Roles de usuarios en un DBMS</a:t>
            </a:r>
            <a:endParaRPr/>
          </a:p>
        </p:txBody>
      </p:sp>
      <p:sp>
        <p:nvSpPr>
          <p:cNvPr id="196" name="Google Shape;196;p11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administrador de bases de datos (DBA) es responsable de 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gestión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mantenimiento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los sistemas de bases de datos, asegurando 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seguridad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rendimiento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disponibilidad de la información almacenada.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2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02" name="Google Shape;202;p12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03" name="Google Shape;203;p12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2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05" name="Google Shape;205;p12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Introducción al Lenguaje SQL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es el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lenguaje estándar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utilizado para interactuar con bases de datos relacionales, permitiendo realizar consultas, insertar, actualizar y eliminar datos de manera eficiente y accesible para los usuarios.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3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12" name="Google Shape;212;p13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13" name="Google Shape;213;p13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3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15" name="Google Shape;215;p13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Conceptos clave de SQL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es fundamental para gestionar bases de datos. Permite realizar operaciones básicas como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consultar, agregar, modificar y eliminar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datos de manera eficiente y estructurada en entornos de bases de datos relacionales.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4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22" name="Google Shape;222;p14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23" name="Google Shape;223;p1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4"/>
          <p:cNvSpPr/>
          <p:nvPr/>
        </p:nvSpPr>
        <p:spPr>
          <a:xfrm>
            <a:off x="8226219" y="1503759"/>
            <a:ext cx="9705975" cy="7279481"/>
          </a:xfrm>
          <a:custGeom>
            <a:rect b="b" l="l" r="r" t="t"/>
            <a:pathLst>
              <a:path extrusionOk="0" h="7279481" w="9705975">
                <a:moveTo>
                  <a:pt x="0" y="0"/>
                </a:moveTo>
                <a:lnTo>
                  <a:pt x="9705975" y="0"/>
                </a:lnTo>
                <a:lnTo>
                  <a:pt x="9705975" y="7279482"/>
                </a:lnTo>
                <a:lnTo>
                  <a:pt x="0" y="7279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4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Estructura de una tabla de base de datos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tabla de base de datos contiene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columnas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representan atributos y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filas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representan registros. Cada columna tiene un tipo de dato específico, como texto, número o fecha, facilitando la organización de la información.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5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32" name="Google Shape;232;p15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33" name="Google Shape;233;p15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5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35" name="Google Shape;235;p15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Claves en Bases de Datos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666750" y="7845425"/>
            <a:ext cx="688657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clave primaria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un identificador único para cada registro en una tabla, garantizando que no haya duplicados y facilitando la integridad y relaciones entre datos en una base de datos.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6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42" name="Google Shape;242;p16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43" name="Google Shape;243;p16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45" name="Google Shape;245;p16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¿Qué es la normalización?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normalización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un proceso esencial que organiza datos para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reducir redundancia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mejorar la integridad, asegurando que la base de datos funcione de manera eficiente y efectiva a largo plazo.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17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7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55" name="Google Shape;255;p17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Primera forma normal (1FN)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666750" y="6969125"/>
            <a:ext cx="6886575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Primera Forma Normal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(1FN) asegura que todos los atributos de una tabla contengan solo valores atómicos. Esto significa que no puede haber grupos repetitivos, proporcionando así una estructura más organizada y eficiente para los datos.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8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62" name="Google Shape;262;p18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63" name="Google Shape;263;p18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8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65" name="Google Shape;265;p18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Ejemplo de normalización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normalización mejora 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organización de datos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eliminando redundancias. En este ejemplo, observamos una tabla no normalizada con datos repetidos, que se dividirá en varias tablas para mayor eficiencia.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9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72" name="Google Shape;272;p19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73" name="Google Shape;273;p19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19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75" name="Google Shape;275;p19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Ventajas de las bases de datos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bases de datos permiten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organización eficiente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datos, optimizando el acceso y la gestión. Facilitan el almacenamiento controlado y la recuperación rápida, lo que resulta fundamental en el manejo de información actual.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0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82" name="Google Shape;282;p20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83" name="Google Shape;283;p20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20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85" name="Google Shape;285;p20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Desventajas de las bases de datos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costo de implementación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puede ser alto debido a la necesidad de infraestructura, software especializado y personal capacitado. Esto puede ser un obstáculo para pequeñas empresas o proyectos educativos.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1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292" name="Google Shape;292;p21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293" name="Google Shape;293;p21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21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295" name="Google Shape;295;p21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Ejemplos de bases de datos en bancos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bases de datos en bancos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facilitan la gestión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cuentas, permitiendo un acceso rápido a información crítica, como saldos y transacciones, mejorando la eficiencia operativa y la satisfacción del cliente.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2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03" name="Google Shape;303;p22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22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05" name="Google Shape;305;p22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Bases de datos en aplicaciones móviles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aplicaciones móviles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utilizan bases de datos para gestionar usuarios, almacenar información y proporcionar contenido personalizado. Esto permite una experiencia más fluida y eficiente para los usuarios en diversas plataformas.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3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13" name="Google Shape;313;p23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23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15" name="Google Shape;315;p23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Resumen de conceptos básicos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66750" y="7369175"/>
            <a:ext cx="688657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esta sesión, exploramos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fundamentos de las bases de datos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incluyendo su estructura, tipos y modelos. Comprender estos conceptos es esencial para manejar la información de manera efectiva en sistemas tecnológicos.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4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22" name="Google Shape;322;p24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23" name="Google Shape;323;p2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24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25" name="Google Shape;325;p24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Repaso de conceptos clave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66750" y="7807325"/>
            <a:ext cx="6886575" cy="181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esta sesión, haremos un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resumen conciso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lo aprendido en la primera sesión, enfatizando los tipos de bases de datos, modelos y su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importancia en la tecnología moderna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25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32" name="Google Shape;332;p25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33" name="Google Shape;333;p25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25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35" name="Google Shape;335;p25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Funciones esenciales del DBMS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66750" y="7845425"/>
            <a:ext cx="6886575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DBMS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gestiona datos, asegura su integridad, proporciona control de acceso y permite respaldos. Facilita la interacción entre usuarios y bases de datos, optimizando el rendimiento y la seguridad.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6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42" name="Google Shape;342;p26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43" name="Google Shape;343;p26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6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45" name="Google Shape;345;p26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Importancia de la normalización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normalización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esencial para organizar eficientemente los datos en bases de datos. Este proceso reduce la redundancia y mejora la integridad, asegurando que la información sea precisa y fácilmente accesible.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9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52" name="Google Shape;352;p29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53" name="Google Shape;353;p29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29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55" name="Google Shape;355;p29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Espacio para preguntas y dudas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666750" y="7407275"/>
            <a:ext cx="6886575" cy="221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es el momento para aclarar cualquier </a:t>
            </a:r>
            <a:r>
              <a:rPr b="1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inquietud</a:t>
            </a: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pregunta que puedan tener sobre los conceptos discutidos. Nos gustaría escuchar sus opiniones y reflexiones sobre el tema de bases de datos.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30"/>
          <p:cNvGrpSpPr/>
          <p:nvPr/>
        </p:nvGrpSpPr>
        <p:grpSpPr>
          <a:xfrm>
            <a:off x="9296400" y="-216991"/>
            <a:ext cx="8991600" cy="3569791"/>
            <a:chOff x="0" y="-57150"/>
            <a:chExt cx="2368158" cy="940192"/>
          </a:xfrm>
        </p:grpSpPr>
        <p:sp>
          <p:nvSpPr>
            <p:cNvPr id="362" name="Google Shape;362;p30"/>
            <p:cNvSpPr/>
            <p:nvPr/>
          </p:nvSpPr>
          <p:spPr>
            <a:xfrm>
              <a:off x="0" y="0"/>
              <a:ext cx="2368158" cy="883042"/>
            </a:xfrm>
            <a:custGeom>
              <a:rect b="b" l="l" r="r" t="t"/>
              <a:pathLst>
                <a:path extrusionOk="0"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</p:sp>
        <p:sp>
          <p:nvSpPr>
            <p:cNvPr id="363" name="Google Shape;363;p30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30"/>
          <p:cNvSpPr/>
          <p:nvPr/>
        </p:nvSpPr>
        <p:spPr>
          <a:xfrm>
            <a:off x="8991600" y="0"/>
            <a:ext cx="9296400" cy="10287000"/>
          </a:xfrm>
          <a:custGeom>
            <a:rect b="b" l="l" r="r" t="t"/>
            <a:pathLst>
              <a:path extrusionOk="0" h="1350966" w="1220873">
                <a:moveTo>
                  <a:pt x="0" y="0"/>
                </a:moveTo>
                <a:lnTo>
                  <a:pt x="1220873" y="0"/>
                </a:lnTo>
                <a:lnTo>
                  <a:pt x="1220873" y="1350966"/>
                </a:lnTo>
                <a:lnTo>
                  <a:pt x="0" y="135096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17" r="-417" t="0"/>
            </a:stretch>
          </a:blipFill>
          <a:ln>
            <a:noFill/>
          </a:ln>
        </p:spPr>
      </p:sp>
      <p:sp>
        <p:nvSpPr>
          <p:cNvPr id="365" name="Google Shape;365;p30"/>
          <p:cNvSpPr txBox="1"/>
          <p:nvPr/>
        </p:nvSpPr>
        <p:spPr>
          <a:xfrm>
            <a:off x="666750" y="809625"/>
            <a:ext cx="6886575" cy="2079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B2B2B"/>
                </a:solidFill>
                <a:latin typeface="Geo"/>
                <a:ea typeface="Geo"/>
                <a:cs typeface="Geo"/>
                <a:sym typeface="Geo"/>
              </a:rPr>
              <a:t>¡Gracias por su atención!</a:t>
            </a:r>
            <a:endParaRPr/>
          </a:p>
        </p:txBody>
      </p:sp>
      <p:sp>
        <p:nvSpPr>
          <p:cNvPr id="366" name="Google Shape;366;p30"/>
          <p:cNvSpPr txBox="1"/>
          <p:nvPr/>
        </p:nvSpPr>
        <p:spPr>
          <a:xfrm>
            <a:off x="666750" y="7883525"/>
            <a:ext cx="6886575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7A7A7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Apreciamos su participación en esta presentación sobre bases de datos. Esperamos que haya encontrado la información útil y valiosa para su aprendizaje y futuro académico en la materia.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